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2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4.xml" ContentType="application/vnd.openxmlformats-officedocument.drawingml.chart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6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7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Menstrual Regularity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Regularity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69-4F25-AC9F-10C5086888A3}"/>
              </c:ext>
            </c:extLst>
          </c:dPt>
          <c:dPt>
            <c:idx val="1"/>
            <c:bubble3D val="0"/>
            <c:spPr>
              <a:solidFill>
                <a:srgbClr val="E0F2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69-4F25-AC9F-10C5086888A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D21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969-4F25-AC9F-10C5086888A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D21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69-4F25-AC9F-10C5086888A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Regular</c:v>
                </c:pt>
                <c:pt idx="1">
                  <c:v>Irregular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69-4F25-AC9F-10C508688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PCOS Prevalence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PCOS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726-4ED0-9F41-2D4F8483D86A}"/>
              </c:ext>
            </c:extLst>
          </c:dPt>
          <c:dPt>
            <c:idx val="1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26-4ED0-9F41-2D4F8483D8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26-4ED0-9F41-2D4F8483D8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26-4ED0-9F41-2D4F8483D8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PCOS</c:v>
                </c:pt>
                <c:pt idx="1">
                  <c:v>PCOS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26-4ED0-9F41-2D4F8483D8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Stress Level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34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88-4B2E-8FB4-EE708B6DD5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PCOS vs Pregnancy Outcome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PCOS</c:v>
                </c:pt>
                <c:pt idx="1">
                  <c:v>PCOS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C0-4FB3-999E-012370F2EB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PCOS</c:v>
                </c:pt>
                <c:pt idx="1">
                  <c:v>PCOS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</c:v>
                </c:pt>
                <c:pt idx="1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C0-4FB3-999E-012370F2EB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Menstrual Regularity vs Outcome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Regular</c:v>
                </c:pt>
                <c:pt idx="1">
                  <c:v>Irregular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9D-4DE8-A9EE-95A877819D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Regular</c:v>
                </c:pt>
                <c:pt idx="1">
                  <c:v>Irregular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</c:v>
                </c:pt>
                <c:pt idx="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9D-4DE8-A9EE-95A877819D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Stress Level vs Success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Stress</c:v>
                </c:pt>
                <c:pt idx="1">
                  <c:v>Medium Stress</c:v>
                </c:pt>
                <c:pt idx="2">
                  <c:v>High Stress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65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66-4D87-BD6A-23E847D05E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Smoking vs Success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8F5-4F83-8067-516A16BE1B00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F5-4F83-8067-516A16BE1B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Non-Smoker</c:v>
                </c:pt>
                <c:pt idx="1">
                  <c:v>Smoker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F5-4F83-8067-516A16BE1B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Alcohol Intake vs Success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None</c:v>
                </c:pt>
                <c:pt idx="1">
                  <c:v>Moderate</c:v>
                </c:pt>
                <c:pt idx="2">
                  <c:v>Heavy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62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F7-4CC1-9119-848E9B3BCD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Success vs Failure by Treatment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IVF</c:v>
                </c:pt>
                <c:pt idx="1">
                  <c:v>IUI</c:v>
                </c:pt>
                <c:pt idx="2">
                  <c:v>Medication</c:v>
                </c:pt>
                <c:pt idx="3">
                  <c:v>No Treatment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67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50-4337-803C-6C73B226B1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IVF</c:v>
                </c:pt>
                <c:pt idx="1">
                  <c:v>IUI</c:v>
                </c:pt>
                <c:pt idx="2">
                  <c:v>Medication</c:v>
                </c:pt>
                <c:pt idx="3">
                  <c:v>No Treatment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</c:v>
                </c:pt>
                <c:pt idx="1">
                  <c:v>33</c:v>
                </c:pt>
                <c:pt idx="2">
                  <c:v>42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50-4337-803C-6C73B226B1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Female Age Band vs Success Rate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06-42C9-B705-C1F09F6C7030}"/>
              </c:ext>
            </c:extLst>
          </c:dPt>
          <c:dPt>
            <c:idx val="1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06-42C9-B705-C1F09F6C7030}"/>
              </c:ext>
            </c:extLst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06-42C9-B705-C1F09F6C7030}"/>
              </c:ext>
            </c:extLst>
          </c:dPt>
          <c:dPt>
            <c:idx val="3"/>
            <c:invertIfNegative val="0"/>
            <c:bubble3D val="0"/>
            <c:spPr>
              <a:solidFill>
                <a:srgbClr val="7DD3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06-42C9-B705-C1F09F6C7030}"/>
              </c:ext>
            </c:extLst>
          </c:dPt>
          <c:dPt>
            <c:idx val="4"/>
            <c:invertIfNegative val="0"/>
            <c:bubble3D val="0"/>
            <c:spPr>
              <a:solidFill>
                <a:srgbClr val="BAE6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206-42C9-B705-C1F09F6C703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21–25</c:v>
                </c:pt>
                <c:pt idx="1">
                  <c:v>26–30</c:v>
                </c:pt>
                <c:pt idx="2">
                  <c:v>31–35</c:v>
                </c:pt>
                <c:pt idx="3">
                  <c:v>36–40</c:v>
                </c:pt>
                <c:pt idx="4">
                  <c:v>41–45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78</c:v>
                </c:pt>
                <c:pt idx="2">
                  <c:v>68</c:v>
                </c:pt>
                <c:pt idx="3">
                  <c:v>48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206-42C9-B705-C1F09F6C70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BMI Category vs Success Rate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Underweight
&lt;18.5</c:v>
                </c:pt>
                <c:pt idx="1">
                  <c:v>Normal
18.5–24.9</c:v>
                </c:pt>
                <c:pt idx="2">
                  <c:v>Overweight
25–29.9</c:v>
                </c:pt>
                <c:pt idx="3">
                  <c:v>Obese
≥30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74</c:v>
                </c:pt>
                <c:pt idx="2">
                  <c:v>65</c:v>
                </c:pt>
                <c:pt idx="3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65-47C0-9040-9F28BD48ED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Sperm Count Band vs Success Rate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&lt;20M</c:v>
                </c:pt>
                <c:pt idx="1">
                  <c:v>20–40M</c:v>
                </c:pt>
                <c:pt idx="2">
                  <c:v>40–60M</c:v>
                </c:pt>
                <c:pt idx="3">
                  <c:v>&gt;60M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58</c:v>
                </c:pt>
                <c:pt idx="2">
                  <c:v>72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28-4591-80EE-59AB7F56A2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Sperm Motility Band vs Success Rate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&lt;30%</c:v>
                </c:pt>
                <c:pt idx="1">
                  <c:v>30–50%</c:v>
                </c:pt>
                <c:pt idx="2">
                  <c:v>50–70%</c:v>
                </c:pt>
                <c:pt idx="3">
                  <c:v>&gt;70%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55</c:v>
                </c:pt>
                <c:pt idx="2">
                  <c:v>70</c:v>
                </c:pt>
                <c:pt idx="3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7D-4695-BFFE-F4916F2B74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Pregnancy Outcome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93-470A-8A70-F2A45236AF98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93-470A-8A70-F2A45236AF98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93-470A-8A70-F2A45236AF98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93-470A-8A70-F2A45236AF98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93-470A-8A70-F2A45236AF98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B93-470A-8A70-F2A45236AF98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B93-470A-8A70-F2A45236AF98}"/>
              </c:ext>
            </c:extLst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B93-470A-8A70-F2A45236AF98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B93-470A-8A70-F2A45236AF98}"/>
              </c:ext>
            </c:extLst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B93-470A-8A70-F2A45236AF9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Female_Age</c:v>
                </c:pt>
                <c:pt idx="1">
                  <c:v>Motility_%</c:v>
                </c:pt>
                <c:pt idx="2">
                  <c:v>Sperm_Count</c:v>
                </c:pt>
                <c:pt idx="3">
                  <c:v>Male_Age</c:v>
                </c:pt>
                <c:pt idx="4">
                  <c:v>PCOS</c:v>
                </c:pt>
                <c:pt idx="5">
                  <c:v>Menstrual_Irreg.</c:v>
                </c:pt>
                <c:pt idx="6">
                  <c:v>Stress_High</c:v>
                </c:pt>
                <c:pt idx="7">
                  <c:v>Smoking</c:v>
                </c:pt>
                <c:pt idx="8">
                  <c:v>BMI</c:v>
                </c:pt>
                <c:pt idx="9">
                  <c:v>Alcohol_Heavy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-0.46400000000000002</c:v>
                </c:pt>
                <c:pt idx="1">
                  <c:v>0.26200000000000001</c:v>
                </c:pt>
                <c:pt idx="2">
                  <c:v>0.20300000000000001</c:v>
                </c:pt>
                <c:pt idx="3">
                  <c:v>-0.18</c:v>
                </c:pt>
                <c:pt idx="4">
                  <c:v>-0.15</c:v>
                </c:pt>
                <c:pt idx="5">
                  <c:v>-0.14000000000000001</c:v>
                </c:pt>
                <c:pt idx="6">
                  <c:v>-0.12</c:v>
                </c:pt>
                <c:pt idx="7">
                  <c:v>-0.11</c:v>
                </c:pt>
                <c:pt idx="8">
                  <c:v>-4.7E-2</c:v>
                </c:pt>
                <c:pt idx="9">
                  <c:v>-0.04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B93-470A-8A70-F2A45236AF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solidFill>
            <a:srgbClr val="F8FAFC">
              <a:alpha val="44000"/>
            </a:srgbClr>
          </a:solidFill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Pregnancy Outcome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546-4B9D-BDBD-209D56782EBC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46-4B9D-BDBD-209D56782EB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46-4B9D-BDBD-209D56782EB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46-4B9D-BDBD-209D56782EB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>Failure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46-4B9D-BDBD-209D56782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Class 0 (Failure)</c:v>
                </c:pt>
                <c:pt idx="1">
                  <c:v>Class 1 (Success)</c:v>
                </c:pt>
                <c:pt idx="2">
                  <c:v>Macro Avg</c:v>
                </c:pt>
                <c:pt idx="3">
                  <c:v>Weighted Avg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</c:v>
                </c:pt>
                <c:pt idx="1">
                  <c:v>0.85</c:v>
                </c:pt>
                <c:pt idx="2">
                  <c:v>0.87</c:v>
                </c:pt>
                <c:pt idx="3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ED-4C82-B519-C2EB94F28E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Class 0 (Failure)</c:v>
                </c:pt>
                <c:pt idx="1">
                  <c:v>Class 1 (Success)</c:v>
                </c:pt>
                <c:pt idx="2">
                  <c:v>Macro Avg</c:v>
                </c:pt>
                <c:pt idx="3">
                  <c:v>Weighted Avg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0.56999999999999995</c:v>
                </c:pt>
                <c:pt idx="1">
                  <c:v>0.95</c:v>
                </c:pt>
                <c:pt idx="2">
                  <c:v>0.76</c:v>
                </c:pt>
                <c:pt idx="3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ED-4C82-B519-C2EB94F28E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Class 0 (Failure)</c:v>
                </c:pt>
                <c:pt idx="1">
                  <c:v>Class 1 (Success)</c:v>
                </c:pt>
                <c:pt idx="2">
                  <c:v>Macro Avg</c:v>
                </c:pt>
                <c:pt idx="3">
                  <c:v>Weighted Avg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0.69</c:v>
                </c:pt>
                <c:pt idx="1">
                  <c:v>0.9</c:v>
                </c:pt>
                <c:pt idx="2">
                  <c:v>0.8</c:v>
                </c:pt>
                <c:pt idx="3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ED-4C82-B519-C2EB94F28E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61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FERTILITY HEALTH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 &amp; Pregnancy Success Insights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</a:t>
            </a:r>
            <a:r>
              <a:rPr lang="en-US" sz="13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By- Santosh Gautam | Aspiring Data Analyst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Health Dataset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33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Goals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252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 &amp; Features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5453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27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99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79222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746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— Categorical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03911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— Numerical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28600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Bivariate: PCOS &amp; Menstrual Regularity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53288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Bivariate: Stress, Smoking &amp; Alcohol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277977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61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734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Bivariate: Treatment Type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0515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033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0640" y="1005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BMI vs Outcome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129844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0640" y="1252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Quality Analysis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15453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527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1499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Insights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179222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773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20640" y="1746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203911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2064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228600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2064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253288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Goals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fertility health through data-driven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fertility health factors and identify predictors of pregnancy success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Approach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Bivariate analysis + Logistic Regression classification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Fertility_Health_Dataset_2026 — couples undergoing fertility assessment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Value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fertility clinics in early risk identification &amp; treatment planning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Structure &amp; 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📐  Numerical Features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Female_Age  — key biological predictor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Male_Age  — partner age factor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 — body mass index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Sperm_Count_Million_per_ml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Motility_%  — sperm movement quality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Trying_Duration_Months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🏷️  Categorical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Menstrual_Regularity — Regular / Irregular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— Yes / No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Stress_Level — Low / Medium / High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— Yes / No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Alcohol_Intake — None / Moderate / Heavy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Treatment_Type — IVF / </a:t>
            </a:r>
            <a:r>
              <a:rPr lang="en-US" sz="1300" dirty="0" smtClean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IUI / Medication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None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Pregnancy_Outcome  🎯 TARGET  (Success/Failure)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4300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Alcohol_Intake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444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NaN with 'unknown'; Treatment_Type NaN → 'No treatment'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4300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444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rows confirmed — dataset is clean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4688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Removal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7706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Couple_ID (unique identifier, non-predictive)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46888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7706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get_dummies() applied for all categorical columns; target mapped 1/0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79476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0965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applied to numerical features prior to modelling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79476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40965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 with random_state=42 for reproducibility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Categorical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key categorical features in the dataset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2834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200400" y="1188720"/>
          <a:ext cx="2834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126480" y="1188720"/>
          <a:ext cx="2834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Insight: 70% regular cycles vs 30% irregular — a major subgroup affecting fertility outcomes. 75% do not have PCOS. Stress levels are nearly evenly distributed across the population.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Numerical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&amp; central tendency of key measures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6128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 yrs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200619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Female 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21–45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6128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33.2 yrs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0" y="200619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Male 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24–50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0515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16128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80760" y="200619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BMI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overweight threshold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08152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55M/ml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0040" y="392643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Sperm 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reference &gt;15M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9718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08152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00400" y="392643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Motility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&gt;40% normal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9718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308152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mths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80760" y="392643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Trying Duration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years average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6576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690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count and motility are well above clinical thresholds on average, yet individual variation is high — making them critical discriminating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Bivariate: PCOS &amp; Menstrual Regularity vs Outcome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10058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10058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PCOS patients have nearly double the failure rate (58% vs 32%). Irregular cycles correlate strongly with lower success — both features are high-value predictors.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Factors: Stress, Smoking &amp; Alcohol vs Outcome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960120"/>
          <a:ext cx="2834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3291840" y="960120"/>
          <a:ext cx="2651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"/>
          <p:cNvGraphicFramePr/>
          <p:nvPr/>
        </p:nvGraphicFramePr>
        <p:xfrm>
          <a:off x="6035040" y="960120"/>
          <a:ext cx="2834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1"/>
          <p:cNvSpPr/>
          <p:nvPr/>
        </p:nvSpPr>
        <p:spPr>
          <a:xfrm>
            <a:off x="274320" y="4370832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457200" y="44165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stress, smoking, and alcohol intake all independently reduce pregnancy success rates. High-stress couples see a ~26pp drop vs low-stress peers — lifestyle counselling is clinically impactful.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Type Analysis &amp; Outcome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0584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43600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13350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success rate (~74%) — most effective for complex cases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60720" y="196596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22951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outcomes (67%) — suitable for mild fertility issues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92608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2953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32552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success — useful as first-line or adjunct therapy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60720" y="388620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Treatment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2153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62% — reflects natural conception attempts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&amp; BMI Impact on Pregnancy Outcome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75488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4325112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43616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age is the single strongest predictor (correlation −0.464). Success rate halves from age 21–25 to 41–45. Normal BMI delivers the highest success rates; obesity introduces an additional ~22pp penalty.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Sperm Quality: Count &amp; Motility vs Outcome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100584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754880" y="100584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4416552"/>
            <a:ext cx="859536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445312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Motility (r = +0.262) outperforms sperm count (r = +0.203) as a fertility predictor. Motility &gt;70% nearly doubles success vs &lt;30%. Early sperm quality screening is a high-ROI clinical intervention.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— Key Findings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741291"/>
              </p:ext>
            </p:extLst>
          </p:nvPr>
        </p:nvGraphicFramePr>
        <p:xfrm>
          <a:off x="457202" y="783767"/>
          <a:ext cx="5193788" cy="4013203"/>
        </p:xfrm>
        <a:graphic>
          <a:graphicData uri="http://schemas.openxmlformats.org/drawingml/2006/table">
            <a:tbl>
              <a:tblPr/>
              <a:tblGrid>
                <a:gridCol w="115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7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7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44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587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Female_Age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Male_Age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BMI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Sperm_Count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Motility_%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Trying_Dur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Female_Age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-0.46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Male_Age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-0.18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BMI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Sperm_Count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Motility_%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Trying_Dur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-0.46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-0.18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-0.05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0.20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D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0.03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D2137"/>
                          </a:solidFill>
                        </a:rPr>
                        <a:t>1.00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960120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52160" y="102412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08192" y="9966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Female_Age → Outcome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08192" y="12618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negative correlation (−0.46). Age is #1 risk factor.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1783080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84708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08192" y="18196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Motility_% → Outcome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08192" y="2084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link (+0.26). Quality over quantity.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606040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67004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1"/>
          <p:cNvSpPr/>
          <p:nvPr/>
        </p:nvSpPr>
        <p:spPr>
          <a:xfrm>
            <a:off x="6108192" y="26426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Sperm_Count → Outcome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08192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predictor (+0.20).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3429000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349300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34655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Male_Age → Outcome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08192" y="3730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 (−0.18) — less impactful than female age.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4251960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431596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08192" y="42885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Multicollinearity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08192" y="45537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pair exceeds ±0.1. Ideal for Logistic Regression.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Predictive Features Ranked by Correlation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699889420"/>
              </p:ext>
            </p:extLst>
          </p:nvPr>
        </p:nvGraphicFramePr>
        <p:xfrm>
          <a:off x="365760" y="914400"/>
          <a:ext cx="84124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4892040"/>
            <a:ext cx="8595360" cy="137160"/>
          </a:xfrm>
          <a:prstGeom prst="roundRect">
            <a:avLst>
              <a:gd name="adj" fmla="val 26667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490118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negative predictors (higher value → lower success).  Green = positive predictors (higher value → higher success).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Variable: Class Distribution &amp; Imbalance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109728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983480" y="11155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26480" y="1115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8348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 — positive pregnancy outcomes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46320" y="1847088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83480" y="1865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1865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83480" y="2139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— unsuccessful pregnancies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2596896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83480" y="26151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Imbalance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2615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 Risk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83480" y="2889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biased toward predicting success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3346704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83480" y="3364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26480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Recall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83480" y="3639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misses 43% of actual failure cases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409651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983480" y="4114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Mitigation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26480" y="4114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SMOTE or class_weight='balanced'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834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also advised for clinical use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 — Logistic Regression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Pregnancy Success (1) vs Failure (0)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81912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+ one-hot encoded categoricals (drop_first=True). Couple_ID excluded.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581912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19019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Pregnancy_Outcome mapped → Success=1, Failure=0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70632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090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(800 records) / 20% testing (200 records), random_state=42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770632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090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on all numerical columns before fitting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959352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279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LogisticRegression  |  max_iter=10,000  |  default regularisation (L2)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4048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959352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4279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Confusion Matrix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Train &amp; Test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4572000" cy="1874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Failure (0)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Success (1)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Act: Failure (0)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</a:rPr>
                        <a:t>TN: 166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</a:rPr>
                        <a:t>FP: 36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Act: Success (1)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FN: 102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</a:rPr>
                        <a:t>TP: 496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206240" cy="1874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Failure (0)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Success (1)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Act: Failure (0)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</a:rPr>
                        <a:t>TN: 44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</a:rPr>
                        <a:t>FP: 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Act: Success (1)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</a:rPr>
                        <a:t>FN: 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</a:rPr>
                        <a:t>TP: 125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429000"/>
            <a:ext cx="8595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49300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→ Accuracy: 82.8%  |  </a:t>
            </a: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Accuracy: 84.4%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(Success): Precision 85% | Recall 95% | F1 90% — excellent positive case detection.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(Failure): Recall 57% — 43% of high-risk cases are missed. Key gap for clinical use.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Report — Model Metrics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960120"/>
          <a:ext cx="8595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4553712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45902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= 84.4%  |  Weighted F1 = 0.85  |  Macro Recall gap (0.76 vs 0.95) confirms class-0 detection challenge — the primary area for future improvement.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82.8%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508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(Success)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(Failure)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0175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3154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648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Precision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636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generalises well (test &gt; train accuracy). Primary limitation: low Class-0 recall — acceptable for screening, requires improvement for clinical risk flagging.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Strengths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0FD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Strengths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generalisation — test accuracy exceeds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(95%) for success class — great for identifying likely successes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 — clinicians can understand feature impact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multicollinearity in features — stable coefficient estimates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 — suitable for real-time clinical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 for ensemble comparison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F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recall on failure class — misses 43% of high-risk cases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(72/28 split) biases predictions toward success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decision boundary — may underfit complex interactions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factors may need domain-specific interaction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algorithm evaluation — no ensemble comparison yet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 is synthetic/2026 — real-world drift possible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Improvement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2471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SMOTE to oversample minority class (Failure)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class_weight='balanced' in LogisticRegression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impact on Class-0 recall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2471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15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8132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interaction: Female_Age × PCOS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BMI × Smoking composite risk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Fertility Index: weighted sum of sperm 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09067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81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472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— captures non-linear relationships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— handles imbalance, feature importance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values for explainability in clinical use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09067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081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4472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decision threshold to 0.3–0.4 for risk flagging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ROC-AUC analysis across threshold range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Precision-Recall curve optimisation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Key Analytical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9768" y="114300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133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" y="10789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age is the #1 risk factor — success drops sharply after 35 (r = −0.464)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64608" y="1143000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133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66944" y="10789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doubles failure risk — 58% vs 32% in non-PCOS patients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1901952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" y="18379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menstrual cycles correlate with 52% failure vs 28% for regular cycles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764792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64608" y="1901952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66944" y="183794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motility (r = +0.262) is a stronger predictor than sperm count (r = +0.203)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523744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660904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" y="2596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 reduces success by ~26 percentage points vs low-stress patients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2660904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66944" y="2596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decreases success rate from 72% to 54% — a clinically meaningful gap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82696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" y="3419856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410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" y="3355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alcohol intake is associated with the lowest success rates (~45%)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282696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419856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410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66944" y="3355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achieves the highest treatment success (~74%) vs Medication (~58%)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04164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9768" y="4178808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4169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BMI (18.5–24.9) delivers the best outcomes; obesity adds ~22pp penalty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04164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64608" y="4178808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4169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66944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multicollinearity across features makes the dataset ideal for interpretable ML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&amp; 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Age Screening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patients over 33 for early fertility assessment. Age-based risk stratification should be the first triage step.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1051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Quality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motility &amp; count analysis mandatory at first consultation. High motility correlates with +83% success in the top quartile.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Management Protocol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patients need customised treatment pathways. IVF or IUI should be explored early rather than Medication alone.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Counselling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788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stress reduction, smoking cessation, and alcohol reduction programmes could shift success rates by 10–26 pp.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6118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Screening Tool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Logistic Regression model (with SMOTE) as a risk-scoring dashboard for intake triage at fertility clinics.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118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Tracking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1148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longitudinal tracking of treatment outcomes by patient profile to continuously retrain the model with real data.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Methodology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34440" y="160020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371600"/>
            <a:ext cx="960120" cy="96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13432" y="160020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371600"/>
            <a:ext cx="960120" cy="960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07592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92424" y="160020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2304" y="1371600"/>
            <a:ext cx="960120" cy="960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86584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71416" y="160020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1296" y="1371600"/>
            <a:ext cx="960120" cy="9601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65576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160020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0288" y="1371600"/>
            <a:ext cx="960120" cy="9601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44568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9400" y="160020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371600"/>
            <a:ext cx="960120" cy="9601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23560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08392" y="1600200"/>
            <a:ext cx="11887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8272" y="1371600"/>
            <a:ext cx="960120" cy="960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02552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27264" y="1371600"/>
            <a:ext cx="960120" cy="9601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27264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781544" y="2423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" y="3063240"/>
            <a:ext cx="8595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 Used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3520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Python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28800" y="3520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environment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92424" y="3520440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pandas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65600" y="3520440"/>
            <a:ext cx="145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aggregation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520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NumPy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93430" y="3520440"/>
            <a:ext cx="12845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050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seaborn / matplotlib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901370" y="4050792"/>
            <a:ext cx="134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EDA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92424" y="4050792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scikit-learn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52686" y="4050792"/>
            <a:ext cx="11393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modelling &amp; evaluation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26480" y="4050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MinMaxScaler / get_dummies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93430" y="3931920"/>
            <a:ext cx="12845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475488"/>
          </a:xfrm>
          <a:prstGeom prst="roundRect">
            <a:avLst>
              <a:gd name="adj" fmla="val 13462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2646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4081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age (−0.464) and sperm motility (+0.262) are the top 2 predictors of fertility success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7863840" cy="475488"/>
          </a:xfrm>
          <a:prstGeom prst="roundRect">
            <a:avLst>
              <a:gd name="adj" fmla="val 13462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7510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5681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+ irregular cycles + high stress form a high-risk triad requiring early clinical intervention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7863840" cy="475488"/>
          </a:xfrm>
          <a:prstGeom prst="roundRect">
            <a:avLst>
              <a:gd name="adj" fmla="val 13462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52374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50545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delivers the highest success rate (74%); lifestyle factors can shift outcomes by 10–26 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475488"/>
          </a:xfrm>
          <a:prstGeom prst="roundRect">
            <a:avLst>
              <a:gd name="adj" fmla="val 13462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7238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054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achieves 84.4% test accuracy — strong baseline with interpretable coefficients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7863840" cy="475488"/>
          </a:xfrm>
          <a:prstGeom prst="roundRect">
            <a:avLst>
              <a:gd name="adj" fmla="val 13462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2102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60273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Class-0 recall (57%) is the critical gap; SMOTE + threshold tuning can meaningfully improve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7863840" cy="475488"/>
          </a:xfrm>
          <a:prstGeom prst="roundRect">
            <a:avLst>
              <a:gd name="adj" fmla="val 13462"/>
            </a:avLst>
          </a:prstGeom>
          <a:solidFill>
            <a:srgbClr val="132A4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6966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513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fertility scoring systems can transform patient triage and treatment personalisation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0" y="4754880"/>
            <a:ext cx="36576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Health Dataset Analysis  •  Capstone Project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2036</Words>
  <Application>Microsoft Office PowerPoint</Application>
  <PresentationFormat>On-screen Show (16:9)</PresentationFormat>
  <Paragraphs>427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Fertility Health Dataset Analysis</dc:title>
  <dc:subject>PptxGenJS Presentation</dc:subject>
  <dc:creator>PptxGenJS</dc:creator>
  <cp:lastModifiedBy>Hp</cp:lastModifiedBy>
  <cp:revision>4</cp:revision>
  <dcterms:created xsi:type="dcterms:W3CDTF">2026-06-18T21:39:43Z</dcterms:created>
  <dcterms:modified xsi:type="dcterms:W3CDTF">2026-06-18T22:07:58Z</dcterms:modified>
</cp:coreProperties>
</file>